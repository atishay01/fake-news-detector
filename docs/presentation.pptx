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352" r:id="rId16"/>
    <p:sldId id="259" r:id="rId17"/>
    <p:sldId id="271" r:id="rId18"/>
    <p:sldId id="265" r:id="rId19"/>
    <p:sldId id="378" r:id="rId20"/>
    <p:sldId id="269" r:id="rId21"/>
    <p:sldId id="375" r:id="rId22"/>
    <p:sldId id="376" r:id="rId23"/>
    <p:sldId id="377" r:id="rId24"/>
    <p:sldId id="379" r:id="rId25"/>
    <p:sldId id="380" r:id="rId26"/>
    <p:sldId id="273" r:id="rId27"/>
    <p:sldId id="381" r:id="rId28"/>
    <p:sldId id="382" r:id="rId29"/>
    <p:sldId id="383" r:id="rId30"/>
    <p:sldId id="270" r:id="rId31"/>
    <p:sldId id="373" r:id="rId32"/>
    <p:sldId id="350" r:id="rId33"/>
  </p:sldIdLst>
  <p:sldSz cx="12192000" cy="68580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174680"/>
            <a:ext cx="10972440" cy="495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7B31F1-F218-4E62-AEC9-D135F86C620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8A2B6E-4F38-4346-BBCF-0BFD3165DCF4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20FAE0-1D6D-453F-A07E-8867F6DCF02E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10972440" cy="495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E05D927-5A83-48C9-820A-A32D2DF384C0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764E2DF-0AC7-4DAD-B3A6-8FBC3C078D58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5354280" cy="495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6231960" y="1174680"/>
            <a:ext cx="5354280" cy="495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CA2939-9826-4C2F-94FA-CE7D6FE22DB5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6296A91-A274-4420-AE96-1D68B5B827DD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607A733-18D0-491E-A33F-D7DABF04A67E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4518DF8-47FD-4FFB-814C-B65A3BC42D42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F9663B4-53D3-4327-A6F5-F00818FE53B6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339F7A7-E95C-4CD6-AE7C-AA8BE64FDD93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pic>
        <p:nvPicPr>
          <p:cNvPr id="2" name="Picture 2"/>
          <p:cNvPicPr/>
          <p:nvPr/>
        </p:nvPicPr>
        <p:blipFill>
          <a:blip r:embed="rId3"/>
          <a:srcRect b="3796"/>
          <a:stretch>
            <a:fillRect/>
          </a:stretch>
        </p:blipFill>
        <p:spPr>
          <a:xfrm>
            <a:off x="0" y="260280"/>
            <a:ext cx="12191760" cy="6597360"/>
          </a:xfrm>
          <a:prstGeom prst="rect">
            <a:avLst/>
          </a:prstGeom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24240" y="620640"/>
            <a:ext cx="10942920" cy="10821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Arial" panose="020B0604020202020204"/>
              </a:rPr>
              <a:t>Second Outline Level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</a:rPr>
              <a:t>Third Outline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</a:rPr>
              <a:t>Fourth Outline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</a:rPr>
              <a:t>Fifth Outline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</a:rPr>
              <a:t>Sixth Outline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</a:rPr>
              <a:t>Seventh Outline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72440" cy="4952520"/>
          </a:xfrm>
          <a:prstGeom prst="rect">
            <a:avLst/>
          </a:prstGeom>
          <a:noFill/>
          <a:ln w="9360">
            <a:noFill/>
          </a:ln>
        </p:spPr>
        <p:txBody>
          <a:bodyPr vert="eaVert" lIns="45000" tIns="90000" rIns="45000" bIns="90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42840" cy="5936760"/>
          </a:xfrm>
          <a:prstGeom prst="rect">
            <a:avLst/>
          </a:prstGeom>
          <a:noFill/>
          <a:ln w="9360">
            <a:noFill/>
          </a:ln>
        </p:spPr>
        <p:txBody>
          <a:bodyPr vert="eaVert" lIns="45000" tIns="90000" rIns="45000" bIns="90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26200" cy="5936760"/>
          </a:xfrm>
          <a:prstGeom prst="rect">
            <a:avLst/>
          </a:prstGeom>
          <a:noFill/>
          <a:ln w="9360">
            <a:noFill/>
          </a:ln>
        </p:spPr>
        <p:txBody>
          <a:bodyPr vert="eaVert" lIns="45000" tIns="90000" rIns="45000" bIns="90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72440" cy="49525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84520" cy="49525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84520" cy="49525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15240" cy="13251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58080" cy="8236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p>
            <a:pPr indent="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58080" cy="36842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3280" cy="8236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p>
            <a:pPr indent="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3280" cy="36842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32280" cy="15998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1840" cy="48733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24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32280" cy="38113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1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9525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32280" cy="15998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</a:rPr>
              <a:t>Second Outline Level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</a:rPr>
              <a:t>Third Outline Level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</a:rPr>
              <a:t>Fourth Outline Level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</a:rPr>
              <a:t>Fifth Outline Level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</a:rPr>
              <a:t>Sixth Outline Level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rial" panose="020B0604020202020204"/>
              </a:rPr>
              <a:t>Seventh Outline Level</a:t>
            </a:r>
            <a:endParaRPr lang="en-US" sz="3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32280" cy="38113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rial" panose="020B0604020202020204"/>
                <a:ea typeface="SimSun" panose="02010600030101010101" pitchFamily="2" charset="-122"/>
              </a:rPr>
              <a:t>Click to edit Master text styles</a:t>
            </a:r>
            <a:endParaRPr lang="en-US" sz="1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602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44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389240" y="167760"/>
            <a:ext cx="9134280" cy="14346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lang="en-IN" altLang="en-US" sz="3600" b="0" strike="noStrike" spc="-1">
                <a:solidFill>
                  <a:schemeClr val="dk1"/>
                </a:solidFill>
                <a:latin typeface="Arial" panose="020B0604020202020204"/>
              </a:rPr>
              <a:t>Stock Market Prediction using Deep Learning</a:t>
            </a:r>
            <a:endParaRPr lang="en-IN" alt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1409760" y="3555360"/>
            <a:ext cx="8795520" cy="2244240"/>
          </a:xfrm>
          <a:prstGeom prst="rect">
            <a:avLst/>
          </a:prstGeom>
          <a:solidFill>
            <a:schemeClr val="lt1">
              <a:lumMod val="95000"/>
            </a:schemeClr>
          </a:solidFill>
          <a:ln w="9360">
            <a:noFill/>
          </a:ln>
        </p:spPr>
        <p:txBody>
          <a:bodyPr lIns="90000" tIns="45000" rIns="90000" bIns="45000" anchor="t">
            <a:normAutofit fontScale="57494"/>
          </a:bodyPr>
          <a:p>
            <a:pPr indent="0">
              <a:lnSpc>
                <a:spcPct val="100000"/>
              </a:lnSpc>
              <a:spcBef>
                <a:spcPts val="625"/>
              </a:spcBef>
              <a:buNone/>
              <a:tabLst>
                <a:tab pos="0" algn="l"/>
              </a:tabLst>
            </a:pPr>
            <a:r>
              <a:rPr lang="en-IN" altLang="en-US" sz="3120" b="1" strike="noStrike" spc="-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Course Code</a:t>
            </a:r>
            <a:r>
              <a:rPr lang="en-IN" altLang="en-US" sz="3120" b="0" strike="noStrike" spc="-1">
                <a:solidFill>
                  <a:srgbClr val="000000"/>
                </a:solidFill>
                <a:latin typeface="Arial" panose="020B0604020202020204"/>
              </a:rPr>
              <a:t> - </a:t>
            </a:r>
            <a:r>
              <a:rPr lang="en-IN" altLang="en-US" sz="3120" b="0" strike="noStrike" spc="-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BCSE 498J</a:t>
            </a:r>
            <a:endParaRPr lang="en-US" sz="312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625"/>
              </a:spcBef>
              <a:buNone/>
              <a:tabLst>
                <a:tab pos="0" algn="l"/>
              </a:tabLst>
            </a:pPr>
            <a:r>
              <a:rPr lang="en-US" sz="3120" b="1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Guided by</a:t>
            </a:r>
            <a:r>
              <a:rPr lang="en-IN" sz="3120" b="1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                                          </a:t>
            </a:r>
            <a:r>
              <a:rPr lang="en-US" sz="3120" b="1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Presented by </a:t>
            </a:r>
            <a:r>
              <a:rPr lang="en-IN" sz="3120" b="1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        </a:t>
            </a:r>
            <a:endParaRPr lang="en-US" sz="312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640"/>
              </a:spcBef>
              <a:buNone/>
              <a:tabLst>
                <a:tab pos="0" algn="l"/>
              </a:tabLst>
            </a:pPr>
            <a:r>
              <a:rPr lang="en-US" altLang="en-US" sz="3200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Rahul Shrivastava</a:t>
            </a:r>
            <a:endParaRPr lang="en-US" altLang="en-US" sz="3200" b="0" strike="noStrike" spc="-1">
              <a:solidFill>
                <a:schemeClr val="dk1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indent="0">
              <a:lnSpc>
                <a:spcPct val="100000"/>
              </a:lnSpc>
              <a:spcBef>
                <a:spcPts val="640"/>
              </a:spcBef>
              <a:buNone/>
              <a:tabLst>
                <a:tab pos="0" algn="l"/>
              </a:tabLst>
            </a:pPr>
            <a:r>
              <a:rPr lang="en-US" altLang="en-US" sz="3200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Assistant Professor Sr. Grade 1 </a:t>
            </a:r>
            <a:r>
              <a:rPr lang="en-IN" sz="3200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                               Shubh Malasi (21BCE0305)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10000"/>
              </a:lnSpc>
              <a:spcBef>
                <a:spcPts val="640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Associate Professor Senior–SCOPE</a:t>
            </a:r>
            <a:r>
              <a:rPr lang="en-IN" sz="3200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             Anurag Arora (21BCE2821)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10000"/>
              </a:lnSpc>
              <a:spcBef>
                <a:spcPts val="640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Vellore Institute of Technology</a:t>
            </a:r>
            <a:r>
              <a:rPr lang="en-IN" sz="3200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                    Atishay Jain (21BCE2862)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10000"/>
              </a:lnSpc>
              <a:spcBef>
                <a:spcPts val="640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80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482920" y="1862280"/>
            <a:ext cx="6744600" cy="1692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600" b="1" u="sng" strike="noStrike" spc="-1">
                <a:solidFill>
                  <a:schemeClr val="dk1"/>
                </a:solidFill>
                <a:uFillTx/>
                <a:latin typeface="Times New Roman" panose="02020603050405020304"/>
                <a:ea typeface="SimSun" panose="02010600030101010101" pitchFamily="2" charset="-122"/>
              </a:rPr>
              <a:t>Contents</a:t>
            </a:r>
            <a:r>
              <a:rPr lang="en-US" sz="3600" b="1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</a:t>
            </a:r>
            <a:endParaRPr 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10972440" cy="49525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rmAutofit lnSpcReduction="20000"/>
          </a:bodyPr>
          <a:p>
            <a:pPr marL="342900" indent="-342900" algn="just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IN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Introduction </a:t>
            </a:r>
            <a:r>
              <a:rPr lang="en-US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</a:t>
            </a:r>
            <a:endParaRPr lang="en-US" altLang="en-US" sz="3285" b="0" strike="noStrike" spc="-1">
              <a:solidFill>
                <a:schemeClr val="dk1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342900" indent="-342900" algn="just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IN" altLang="en-US" sz="3285" b="0" strike="noStrike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 </a:t>
            </a:r>
            <a:r>
              <a:rPr lang="en-US" altLang="en-US" sz="3285" b="0" strike="noStrike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Objectives</a:t>
            </a:r>
            <a:r>
              <a:rPr lang="en-US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 </a:t>
            </a:r>
            <a:endParaRPr lang="en-US" altLang="en-US" sz="3285" b="0" strike="noStrike" spc="-1">
              <a:solidFill>
                <a:schemeClr val="dk1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342900" indent="-342900" algn="just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Literature Review</a:t>
            </a:r>
            <a:endParaRPr lang="en-US" altLang="en-US" sz="3285" b="0" strike="noStrike" spc="-1">
              <a:solidFill>
                <a:schemeClr val="dk1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342900" indent="-342900" algn="just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Research gaps</a:t>
            </a:r>
            <a:endParaRPr lang="en-US" altLang="en-US" sz="3285" b="0" strike="noStrike" spc="-1">
              <a:solidFill>
                <a:schemeClr val="dk1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342900" indent="-342900" algn="just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</a:t>
            </a:r>
            <a:r>
              <a:rPr lang="en-IN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</a:t>
            </a:r>
            <a:r>
              <a:rPr lang="en-US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Hardware and software specification</a:t>
            </a:r>
            <a:endParaRPr lang="en-US" altLang="en-US" sz="3285" b="0" strike="noStrike" spc="-1">
              <a:solidFill>
                <a:schemeClr val="dk1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342900" indent="-342900" algn="just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IN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</a:t>
            </a:r>
            <a:r>
              <a:rPr lang="en-US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Gantt chart with Work breakdown structure</a:t>
            </a:r>
            <a:endParaRPr lang="en-US" altLang="en-US" sz="3285" b="0" strike="noStrike" spc="-1">
              <a:solidFill>
                <a:schemeClr val="dk1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342900" indent="-342900" algn="just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Requirement Analysis (SRS)</a:t>
            </a:r>
            <a:endParaRPr lang="en-US" altLang="en-US" sz="3285" b="0" strike="noStrike" spc="-1">
              <a:solidFill>
                <a:schemeClr val="dk1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342900" indent="-342900" algn="just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Work flow model (Any form of diagrammatic representation)</a:t>
            </a:r>
            <a:endParaRPr lang="en-US" altLang="en-US" sz="3285" b="0" strike="noStrike" spc="-1">
              <a:solidFill>
                <a:schemeClr val="dk1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342900" indent="-342900" algn="just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alt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 Module design and Implementation (Minimum 30%)</a:t>
            </a:r>
            <a:r>
              <a:rPr lang="en-US" sz="3285" b="0" strike="noStrike" spc="-1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</a:rPr>
              <a:t>	</a:t>
            </a:r>
            <a:endParaRPr lang="en-US" sz="3285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IN" altLang="en-US" sz="3600" b="1" u="sng" strike="noStrike" spc="-1">
                <a:solidFill>
                  <a:schemeClr val="dk1"/>
                </a:solidFill>
                <a:uFillTx/>
                <a:latin typeface="Times New Roman" panose="02020603050405020304"/>
                <a:ea typeface="SimSun" panose="02010600030101010101" pitchFamily="2" charset="-122"/>
              </a:rPr>
              <a:t>Introduction</a:t>
            </a:r>
            <a:endParaRPr lang="en-IN" altLang="en-US" sz="3600" b="1" u="sng" strike="noStrike" spc="-1">
              <a:solidFill>
                <a:schemeClr val="dk1"/>
              </a:solidFill>
              <a:uFillTx/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10972440" cy="49525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46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000" b="1" strike="noStrike" spc="-1">
                <a:solidFill>
                  <a:schemeClr val="dk1"/>
                </a:solidFill>
                <a:latin typeface="Arial" panose="020B0604020202020204"/>
              </a:rPr>
              <a:t>Hybrid Deep Learning Approach</a:t>
            </a:r>
            <a:r>
              <a:rPr lang="en-US" altLang="en-US" sz="2000" b="0" strike="noStrike" spc="-1">
                <a:solidFill>
                  <a:schemeClr val="dk1"/>
                </a:solidFill>
                <a:latin typeface="Arial" panose="020B0604020202020204"/>
              </a:rPr>
              <a:t> – Combining LSTM’s long-term memory retention with GRU’s computational efficiency enhances stock market prediction accuracy.</a:t>
            </a:r>
            <a:endParaRPr lang="en-US" alt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46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endParaRPr lang="en-US" alt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46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000" b="1" strike="noStrike" spc="-1">
                <a:solidFill>
                  <a:schemeClr val="dk1"/>
                </a:solidFill>
                <a:latin typeface="Arial" panose="020B0604020202020204"/>
              </a:rPr>
              <a:t>Data-Driven Forecasting</a:t>
            </a:r>
            <a:r>
              <a:rPr lang="en-US" altLang="en-US" sz="2000" b="0" strike="noStrike" spc="-1">
                <a:solidFill>
                  <a:schemeClr val="dk1"/>
                </a:solidFill>
                <a:latin typeface="Arial" panose="020B0604020202020204"/>
              </a:rPr>
              <a:t> – The project leverages historical S&amp;P 500 data, applies preprocessing techniques (normalization, feature engineering), and evaluates performance using RMSE and MAE.</a:t>
            </a:r>
            <a:endParaRPr lang="en-US" alt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46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endParaRPr lang="en-US" alt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46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000" b="1" strike="noStrike" spc="-1">
                <a:solidFill>
                  <a:schemeClr val="dk1"/>
                </a:solidFill>
                <a:latin typeface="Arial" panose="020B0604020202020204"/>
              </a:rPr>
              <a:t>Future Enhancements</a:t>
            </a:r>
            <a:r>
              <a:rPr lang="en-US" altLang="en-US" sz="2000" b="0" strike="noStrike" spc="-1">
                <a:solidFill>
                  <a:schemeClr val="dk1"/>
                </a:solidFill>
                <a:latin typeface="Arial" panose="020B0604020202020204"/>
              </a:rPr>
              <a:t> – Integrating real-time data, such as news sentiment, macroeconomic indicators, and social media trends, can further improve market forecasting and decision-making.</a:t>
            </a:r>
            <a:endParaRPr lang="en-US" altLang="en-US" sz="2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b="1" u="sng" strike="noStrike">
                <a:solidFill>
                  <a:schemeClr val="dk1"/>
                </a:solidFill>
                <a:uFillTx/>
                <a:latin typeface="Times New Roman" panose="02020603050405020304"/>
                <a:ea typeface="SimSun" panose="02010600030101010101" pitchFamily="2" charset="-122"/>
                <a:sym typeface="+mn-ea"/>
              </a:rPr>
              <a:t>Objectives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/>
              <a:t> </a:t>
            </a:r>
            <a:r>
              <a:rPr lang="en-US" altLang="en-US" sz="2500" b="1"/>
              <a:t>Advanced Deep Learning Models </a:t>
            </a:r>
            <a:r>
              <a:rPr lang="en-US" altLang="en-US" sz="2500"/>
              <a:t>– The project utilizes LSTM and CNN, which are well-suited for time-series forecasting, to analyze historical stock data and predict future price movements.</a:t>
            </a:r>
            <a:endParaRPr lang="en-US" altLang="en-US" sz="2500"/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endParaRPr lang="en-US" altLang="en-US" sz="2500"/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1"/>
              <a:t>Comprehensive Data Processing </a:t>
            </a:r>
            <a:r>
              <a:rPr lang="en-US" altLang="en-US" sz="2500"/>
              <a:t>– The approach includes data normalization, feature selection, and data splitting to enhance model accuracy and ensure high-quality input data.</a:t>
            </a:r>
            <a:endParaRPr lang="en-US" altLang="en-US" sz="2500"/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endParaRPr lang="en-US" altLang="en-US" sz="2500"/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/>
              <a:t> </a:t>
            </a:r>
            <a:r>
              <a:rPr lang="en-US" altLang="en-US" sz="2500" b="1"/>
              <a:t>Performance Evaluation </a:t>
            </a:r>
            <a:r>
              <a:rPr lang="en-US" altLang="en-US" sz="2500"/>
              <a:t>– Model effectiveness is assessed using Mean Absolute Error (MAE) and Root Mean Squared Error (RMSE) to ensure accurate and reliable stock price predictions.</a:t>
            </a:r>
            <a:endParaRPr lang="en-US" altLang="en-US"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IN" altLang="en-US" sz="3600" b="1" u="sng" strike="noStrike" spc="-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Literature Review</a:t>
            </a:r>
            <a:endParaRPr lang="en-IN" altLang="en-US" sz="3600" b="1" u="sng" strike="noStrike" spc="-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33730" y="1677670"/>
            <a:ext cx="1040066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CNN &amp; Bi-LSTM for Stock Prediction (Eapen et al., 2019)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A hybrid model using CNN for feature extraction and Bi-LSTM for long-term dependency capture.</a:t>
            </a:r>
            <a:endParaRPr lang="en-US" altLang="en-US"/>
          </a:p>
          <a:p>
            <a:r>
              <a:rPr lang="en-US" altLang="en-US"/>
              <a:t>Results show improved accuracy in stock price prediction using RMSE and MAE metrics.</a:t>
            </a:r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Bi-LSTM &amp; GRU Hybrid Model (Karim et al., 2022)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Combines Bi-LSTM’s sequential learning and GRU’s computational efficiency.</a:t>
            </a:r>
            <a:endParaRPr lang="en-US" altLang="en-US"/>
          </a:p>
          <a:p>
            <a:r>
              <a:rPr lang="en-US" altLang="en-US"/>
              <a:t>Achieves better accuracy and stability than standalone models for financial forecasting.</a:t>
            </a:r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Deep Learning &amp; Sentiment Analysis (Nan Jing et al., 2021)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Integrates investor sentiment analysis with deep learning for stock price prediction.</a:t>
            </a:r>
            <a:endParaRPr lang="en-US" altLang="en-US"/>
          </a:p>
          <a:p>
            <a:r>
              <a:rPr lang="en-US" altLang="en-US"/>
              <a:t>Outperforms traditional models by incorporating both financial and qualitative sentiment data.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3600" b="1" u="sng">
                <a:latin typeface="Times New Roman" panose="02020603050405020304" charset="0"/>
                <a:cs typeface="Times New Roman" panose="02020603050405020304" charset="0"/>
              </a:rPr>
              <a:t>Literature Review</a:t>
            </a:r>
            <a:r>
              <a:rPr lang="en-IN" altLang="en-US" sz="3000" b="1" u="sng"/>
              <a:t> </a:t>
            </a:r>
            <a:endParaRPr lang="en-IN" altLang="en-US" sz="3000" b="1" u="sng"/>
          </a:p>
        </p:txBody>
      </p:sp>
      <p:sp>
        <p:nvSpPr>
          <p:cNvPr id="3" name="Content Placeholder 2"/>
          <p:cNvSpPr/>
          <p:nvPr>
            <p:ph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Stacked LSTM for COVID-19 Market Impact (Singh &amp; Jain, 2022)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Uses stacked LSTM architecture to predict stock prices during the COVID-19 crisis.</a:t>
            </a:r>
            <a:endParaRPr lang="en-US" altLang="en-US"/>
          </a:p>
          <a:p>
            <a:r>
              <a:rPr lang="en-US" altLang="en-US"/>
              <a:t>Effectively captures volatile market trends caused by economic disruptions.</a:t>
            </a:r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Algorithmic Trading &amp; ML Models (Joiner et al., 2022)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Explores state-of-the-art ML techniques for high-frequency trading and financial forecasting.</a:t>
            </a:r>
            <a:endParaRPr lang="en-US" altLang="en-US"/>
          </a:p>
          <a:p>
            <a:r>
              <a:rPr lang="en-US" altLang="en-US"/>
              <a:t>Highlights challenges like noise, overfitting, and market adaptability in algorithmic trading.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600" b="1" u="sng" strike="noStrike" spc="-1">
                <a:solidFill>
                  <a:schemeClr val="dk1"/>
                </a:solidFill>
                <a:uFillTx/>
                <a:latin typeface="Times New Roman" panose="02020603050405020304"/>
                <a:ea typeface="SimSun" panose="02010600030101010101" pitchFamily="2" charset="-122"/>
              </a:rPr>
              <a:t>Gaps Identified</a:t>
            </a:r>
            <a:endParaRPr 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10972440" cy="49525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 spc="-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Overfitting: Models like LSTMs memorize patterns but fail to generalize to new data due to market volatility.</a:t>
            </a:r>
            <a:endParaRPr lang="en-US" altLang="en-US" sz="2500" b="0" strike="noStrike" spc="-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endParaRPr lang="en-US" altLang="en-US" sz="2500" b="0" strike="noStrike" spc="-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 spc="-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Insufficient Data Diversity: Training on limited datasets leads to poor adaptability across different market conditions.</a:t>
            </a:r>
            <a:endParaRPr lang="en-US" altLang="en-US" sz="2500" b="0" strike="noStrike" spc="-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endParaRPr lang="en-US" altLang="en-US" sz="2500" b="0" strike="noStrike" spc="-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 spc="-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Black-Box Nature: Deep learning models lack transparency, making decision-making difficult in financial trading.</a:t>
            </a:r>
            <a:endParaRPr lang="en-US" altLang="en-US" sz="2500" b="0" strike="noStrike" spc="-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b="1" u="sng" strike="noStrike">
                <a:solidFill>
                  <a:schemeClr val="dk1"/>
                </a:solidFill>
                <a:uFillTx/>
                <a:latin typeface="Times New Roman" panose="02020603050405020304"/>
                <a:ea typeface="SimSun" panose="02010600030101010101" pitchFamily="2" charset="-122"/>
                <a:sym typeface="+mn-ea"/>
              </a:rPr>
              <a:t>Gaps Identified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>
                <a:solidFill>
                  <a:schemeClr val="dk1"/>
                </a:solidFill>
                <a:latin typeface="Arial" panose="020B0604020202020204"/>
                <a:sym typeface="+mn-ea"/>
              </a:rPr>
              <a:t>Lack of Financial Insights: Predictions are data-driven but often fail to explain the underlying financial rationale.</a:t>
            </a:r>
            <a:endParaRPr lang="en-US" altLang="en-US" sz="2500" b="0" strike="noStrike">
              <a:solidFill>
                <a:schemeClr val="dk1"/>
              </a:solidFill>
              <a:latin typeface="Arial" panose="020B0604020202020204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>
                <a:solidFill>
                  <a:schemeClr val="dk1"/>
                </a:solidFill>
                <a:latin typeface="Arial" panose="020B0604020202020204"/>
                <a:sym typeface="+mn-ea"/>
              </a:rPr>
              <a:t>Inability to Handle Real-Time Data: Most models rely on batch processing and struggle in high-frequency trading.</a:t>
            </a:r>
            <a:endParaRPr lang="en-US" altLang="en-US" sz="2500" b="0" strike="noStrike">
              <a:solidFill>
                <a:schemeClr val="dk1"/>
              </a:solidFill>
              <a:latin typeface="Arial" panose="020B0604020202020204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>
                <a:solidFill>
                  <a:schemeClr val="dk1"/>
                </a:solidFill>
                <a:latin typeface="Arial" panose="020B0604020202020204"/>
                <a:sym typeface="+mn-ea"/>
              </a:rPr>
              <a:t>Lack of Adaptive Learning: Models fail to quickly adjust to sudden market changes, such as economic crises.</a:t>
            </a:r>
            <a:endParaRPr lang="en-US" altLang="en-US" sz="2500" b="0" strike="noStrike">
              <a:solidFill>
                <a:schemeClr val="dk1"/>
              </a:solidFill>
              <a:latin typeface="Arial" panose="020B0604020202020204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None/>
            </a:pP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endParaRPr lang="en-US"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altLang="en-US" sz="3600" b="1" u="sng" strike="noStrike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Hardware and software specification</a:t>
            </a:r>
            <a:endParaRPr lang="en-US" sz="3600" b="1" u="sng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10972440" cy="49525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1" strike="noStrike" spc="-1">
                <a:solidFill>
                  <a:schemeClr val="dk1"/>
                </a:solidFill>
                <a:latin typeface="Arial" panose="020B0604020202020204"/>
              </a:rPr>
              <a:t>Hardware Requirements</a:t>
            </a:r>
            <a:r>
              <a:rPr lang="en-IN" altLang="en-US" sz="2500" b="1" strike="noStrike" spc="-1">
                <a:solidFill>
                  <a:schemeClr val="dk1"/>
                </a:solidFill>
                <a:latin typeface="Arial" panose="020B0604020202020204"/>
              </a:rPr>
              <a:t>:-</a:t>
            </a:r>
            <a:endParaRPr lang="en-IN" altLang="en-US" sz="2500" b="1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None/>
            </a:pP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 spc="-1">
                <a:solidFill>
                  <a:schemeClr val="dk1"/>
                </a:solidFill>
                <a:latin typeface="Arial" panose="020B0604020202020204"/>
              </a:rPr>
              <a:t>Processor: Intel Core i5/i7 or AMD Ryzen 5/7 (or higher)</a:t>
            </a: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 spc="-1">
                <a:solidFill>
                  <a:schemeClr val="dk1"/>
                </a:solidFill>
                <a:latin typeface="Arial" panose="020B0604020202020204"/>
              </a:rPr>
              <a:t> RAM: Minimum 8GB (Recommended: 16GB for faster training)</a:t>
            </a: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 spc="-1">
                <a:solidFill>
                  <a:schemeClr val="dk1"/>
                </a:solidFill>
                <a:latin typeface="Arial" panose="020B0604020202020204"/>
              </a:rPr>
              <a:t> Storage: At least 50GB free space (SSD preferred for performance)</a:t>
            </a: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 spc="-1">
                <a:solidFill>
                  <a:schemeClr val="dk1"/>
                </a:solidFill>
                <a:latin typeface="Arial" panose="020B0604020202020204"/>
              </a:rPr>
              <a:t> GPU: NVIDIA GPU with CUDA support (e.g., GTX 1660, RTX 3060, or higher) for deep learning acceleration</a:t>
            </a: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altLang="en-US" sz="2500" b="0" strike="noStrike" spc="-1">
                <a:solidFill>
                  <a:schemeClr val="dk1"/>
                </a:solidFill>
                <a:latin typeface="Arial" panose="020B0604020202020204"/>
              </a:rPr>
              <a:t> Internet Connection: Required for data fetching, model training, and cloud services</a:t>
            </a:r>
            <a:endParaRPr lang="en-US" altLang="en-US" sz="2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 b="1" u="sng" strike="noStrike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Hardware and software specification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p>
            <a:r>
              <a:rPr lang="en-US" altLang="en-US"/>
              <a:t> </a:t>
            </a:r>
            <a:r>
              <a:rPr lang="en-US" altLang="en-US" b="1"/>
              <a:t>Software Requirements</a:t>
            </a:r>
            <a:r>
              <a:rPr lang="en-IN" altLang="en-US" b="1"/>
              <a:t>:-</a:t>
            </a:r>
            <a:endParaRPr lang="en-IN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500"/>
              <a:t> Operating System: Windows 10/11, macOS, or Linux (Ubuntu preferred)</a:t>
            </a:r>
            <a:endParaRPr lang="en-US" altLang="en-US" sz="2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500"/>
              <a:t> Programming Language: Python 3.x</a:t>
            </a:r>
            <a:endParaRPr lang="en-US" altLang="en-US" sz="2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500"/>
              <a:t> IDE: Jupyter Notebook, Google Colab, or VS Code</a:t>
            </a:r>
            <a:endParaRPr lang="en-US" altLang="en-US" sz="25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500"/>
              <a:t> Libraries &amp; Frameworks:</a:t>
            </a:r>
            <a:endParaRPr lang="en-US" altLang="en-US" sz="25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500"/>
              <a:t>TensorFlow / Keras – Deep learning model development</a:t>
            </a:r>
            <a:endParaRPr lang="en-US" altLang="en-US" sz="2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500"/>
              <a:t>Scikit-learn – Data preprocessing &amp; model evaluation</a:t>
            </a:r>
            <a:endParaRPr lang="en-US" altLang="en-US" sz="2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500"/>
              <a:t>Pandas &amp; NumPy – Data manipulation</a:t>
            </a:r>
            <a:endParaRPr lang="en-US" altLang="en-US" sz="2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500"/>
              <a:t>Matplotlib &amp; Seaborn – Data visualization</a:t>
            </a:r>
            <a:endParaRPr lang="en-US" altLang="en-US" sz="2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500"/>
              <a:t> Database: CSV/JSON datasets or SQL for structured storage</a:t>
            </a:r>
            <a:endParaRPr lang="en-US" altLang="en-US" sz="2500"/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 b="1" u="sng" strike="noStrike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Gantt chart</a:t>
            </a:r>
            <a:endParaRPr lang="en-US" sz="3600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1"/>
          <p:cNvPicPr>
            <a:picLocks noChangeAspect="1"/>
          </p:cNvPicPr>
          <p:nvPr>
            <p:ph/>
          </p:nvPr>
        </p:nvPicPr>
        <p:blipFill>
          <a:blip r:embed="rId1"/>
          <a:stretch>
            <a:fillRect/>
          </a:stretch>
        </p:blipFill>
        <p:spPr>
          <a:xfrm>
            <a:off x="3556000" y="1174750"/>
            <a:ext cx="5078095" cy="4952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 b="1" u="sng" strike="noStrike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Requirement Analysis (SRS)</a:t>
            </a:r>
            <a:endParaRPr lang="en-US" sz="3600" b="1" u="sng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>
            <a:normAutofit lnSpcReduction="20000"/>
          </a:bodyPr>
          <a:p>
            <a:r>
              <a:rPr lang="en-US" altLang="en-US" b="1"/>
              <a:t>Functional Requirements</a:t>
            </a:r>
            <a:r>
              <a:rPr lang="en-IN" altLang="en-US" b="1"/>
              <a:t>:-</a:t>
            </a:r>
            <a:endParaRPr lang="en-IN" altLang="en-US" b="1"/>
          </a:p>
          <a:p>
            <a:endParaRPr lang="en-US" altLang="en-US" b="1"/>
          </a:p>
          <a:p>
            <a:r>
              <a:rPr lang="en-US" altLang="en-US"/>
              <a:t>Import data: The system should be able to import the stock price data for S&amp;P 500 from a specified</a:t>
            </a:r>
            <a:endParaRPr lang="en-US" altLang="en-US"/>
          </a:p>
          <a:p>
            <a:r>
              <a:rPr lang="en-US" altLang="en-US"/>
              <a:t>data source or file.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● </a:t>
            </a:r>
            <a:r>
              <a:rPr lang="en-US" altLang="en-US" b="1"/>
              <a:t>Data analysis and preprocessing</a:t>
            </a:r>
            <a:r>
              <a:rPr lang="en-US" altLang="en-US"/>
              <a:t>: The system should be able to analyse and preprocess the data</a:t>
            </a:r>
            <a:endParaRPr lang="en-US" altLang="en-US"/>
          </a:p>
          <a:p>
            <a:r>
              <a:rPr lang="en-US" altLang="en-US"/>
              <a:t>before training the models. This includes tasks such as data normalisation, handling missing values,</a:t>
            </a:r>
            <a:endParaRPr lang="en-US" altLang="en-US"/>
          </a:p>
          <a:p>
            <a:r>
              <a:rPr lang="en-US" altLang="en-US"/>
              <a:t>and feature engineering.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● </a:t>
            </a:r>
            <a:r>
              <a:rPr lang="en-US" altLang="en-US" b="1"/>
              <a:t>Model training</a:t>
            </a:r>
            <a:r>
              <a:rPr lang="en-US" altLang="en-US"/>
              <a:t>: The system should be able to train different types of RNN models such as LSTM,</a:t>
            </a:r>
            <a:endParaRPr lang="en-US" altLang="en-US"/>
          </a:p>
          <a:p>
            <a:r>
              <a:rPr lang="en-US" altLang="en-US"/>
              <a:t>GRU, and hybrid models using a specified set of parameters. This includes splitting the data into</a:t>
            </a:r>
            <a:endParaRPr lang="en-US" altLang="en-US"/>
          </a:p>
          <a:p>
            <a:r>
              <a:rPr lang="en-US" altLang="en-US"/>
              <a:t>training, testing, and validation sets, setting the number of epochs, and specifying the optimizer and</a:t>
            </a:r>
            <a:endParaRPr lang="en-US" altLang="en-US"/>
          </a:p>
          <a:p>
            <a:r>
              <a:rPr lang="en-US" altLang="en-US"/>
              <a:t>loss function.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● </a:t>
            </a:r>
            <a:r>
              <a:rPr lang="en-US" altLang="en-US" b="1"/>
              <a:t>Model selection</a:t>
            </a:r>
            <a:r>
              <a:rPr lang="en-US" altLang="en-US"/>
              <a:t>: The system should be able to select the best model based on the evaluation metrics</a:t>
            </a:r>
            <a:endParaRPr lang="en-US" altLang="en-US"/>
          </a:p>
          <a:p>
            <a:r>
              <a:rPr lang="en-US" altLang="en-US"/>
              <a:t>(MSE and MAE) and deploy the selected model for future predictions.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● </a:t>
            </a:r>
            <a:r>
              <a:rPr lang="en-US" altLang="en-US" b="1"/>
              <a:t>Prediction</a:t>
            </a:r>
            <a:r>
              <a:rPr lang="en-US" altLang="en-US"/>
              <a:t>: The system should be able to take in new data and use the selected model to generate</a:t>
            </a:r>
            <a:endParaRPr lang="en-US" altLang="en-US"/>
          </a:p>
          <a:p>
            <a:r>
              <a:rPr lang="en-US" altLang="en-US"/>
              <a:t>predictions for future stock prices.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● </a:t>
            </a:r>
            <a:r>
              <a:rPr lang="en-US" altLang="en-US" b="1"/>
              <a:t>Deployment: </a:t>
            </a:r>
            <a:r>
              <a:rPr lang="en-US" altLang="en-US"/>
              <a:t>The system should be able to deploy the selected model in a production environment</a:t>
            </a:r>
            <a:endParaRPr lang="en-US" altLang="en-US"/>
          </a:p>
          <a:p>
            <a:r>
              <a:rPr lang="en-US" altLang="en-US"/>
              <a:t>and provide access to the predictions for external applications.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 b="1" u="sng" strike="noStrike">
                <a:solidFill>
                  <a:schemeClr val="dk1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Requirement Analysis (SRS)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p>
            <a:r>
              <a:rPr lang="en-US" altLang="en-US" b="1"/>
              <a:t>Non-Functional Requirements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● </a:t>
            </a:r>
            <a:r>
              <a:rPr lang="en-US" altLang="en-US" b="1"/>
              <a:t>Scalability</a:t>
            </a:r>
            <a:r>
              <a:rPr lang="en-US" altLang="en-US"/>
              <a:t>: The system should be able to handle large amounts of data and be able to scale</a:t>
            </a:r>
            <a:endParaRPr lang="en-US" altLang="en-US"/>
          </a:p>
          <a:p>
            <a:r>
              <a:rPr lang="en-US" altLang="en-US"/>
              <a:t>horizontally and vertically as the data volume and user traffic increase.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● </a:t>
            </a:r>
            <a:r>
              <a:rPr lang="en-US" altLang="en-US" b="1"/>
              <a:t>Reliability</a:t>
            </a:r>
            <a:r>
              <a:rPr lang="en-US" altLang="en-US"/>
              <a:t>: The system should be reliable and available at all times, with minimal downtime or</a:t>
            </a:r>
            <a:endParaRPr lang="en-US" altLang="en-US"/>
          </a:p>
          <a:p>
            <a:r>
              <a:rPr lang="en-US" altLang="en-US"/>
              <a:t>disruptions.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● </a:t>
            </a:r>
            <a:r>
              <a:rPr lang="en-US" altLang="en-US" b="1"/>
              <a:t>Security</a:t>
            </a:r>
            <a:r>
              <a:rPr lang="en-US" altLang="en-US"/>
              <a:t>: The system should be designed with security in mind and implement measures to protect</a:t>
            </a:r>
            <a:endParaRPr lang="en-US" altLang="en-US"/>
          </a:p>
          <a:p>
            <a:r>
              <a:rPr lang="en-US" altLang="en-US"/>
              <a:t>user data and prevent unauthorised access.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● </a:t>
            </a:r>
            <a:r>
              <a:rPr lang="en-US" altLang="en-US" b="1"/>
              <a:t>Usability</a:t>
            </a:r>
            <a:r>
              <a:rPr lang="en-US" altLang="en-US"/>
              <a:t>: The system should be user-friendly and easy to use, with clear documentation and user</a:t>
            </a:r>
            <a:endParaRPr lang="en-US" altLang="en-US"/>
          </a:p>
          <a:p>
            <a:r>
              <a:rPr lang="en-US" altLang="en-US"/>
              <a:t>guides.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● </a:t>
            </a:r>
            <a:r>
              <a:rPr lang="en-US" altLang="en-US" b="1"/>
              <a:t>Portability</a:t>
            </a:r>
            <a:r>
              <a:rPr lang="en-US" altLang="en-US"/>
              <a:t>: The system should be able to run on different operating systems and platforms, with</a:t>
            </a:r>
            <a:endParaRPr lang="en-US" altLang="en-US"/>
          </a:p>
          <a:p>
            <a:r>
              <a:rPr lang="en-US" altLang="en-US"/>
              <a:t>minimal dependencies and installation requirements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b="1" u="sng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Architecture diagram of the proposed system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>
            <a:normAutofit fontScale="90000" lnSpcReduction="20000"/>
          </a:bodyPr>
          <a:p>
            <a:r>
              <a:rPr lang="en-US" altLang="en-US" b="1"/>
              <a:t>Data Import &amp; Exploration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Import S&amp;P 500 time series data.</a:t>
            </a:r>
            <a:endParaRPr lang="en-US" altLang="en-US"/>
          </a:p>
          <a:p>
            <a:r>
              <a:rPr lang="en-US" altLang="en-US"/>
              <a:t>Analyze data structure and trends for better understanding.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Data Splitting &amp; Preprocessing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Split data into training, validation, and testing sets.</a:t>
            </a:r>
            <a:endParaRPr lang="en-US" altLang="en-US"/>
          </a:p>
          <a:p>
            <a:r>
              <a:rPr lang="en-US" altLang="en-US"/>
              <a:t>Normalize and preprocess data to prepare for model training.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Model Training &amp; Evaluation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Train models:</a:t>
            </a:r>
            <a:endParaRPr lang="en-US" altLang="en-US"/>
          </a:p>
          <a:p>
            <a:r>
              <a:rPr lang="en-US" altLang="en-US"/>
              <a:t>RNN (Recurrent Neural Network)</a:t>
            </a:r>
            <a:endParaRPr lang="en-US" altLang="en-US"/>
          </a:p>
          <a:p>
            <a:r>
              <a:rPr lang="en-US" altLang="en-US"/>
              <a:t>GRU (Gated Recurrent Unit)</a:t>
            </a:r>
            <a:endParaRPr lang="en-US" altLang="en-US"/>
          </a:p>
          <a:p>
            <a:r>
              <a:rPr lang="en-US" altLang="en-US"/>
              <a:t>LSTM (Long Short-Term Memory)</a:t>
            </a:r>
            <a:endParaRPr lang="en-US" altLang="en-US"/>
          </a:p>
          <a:p>
            <a:r>
              <a:rPr lang="en-US" altLang="en-US"/>
              <a:t>Hybrid Model (LSTM + GRU with Dropout)</a:t>
            </a:r>
            <a:endParaRPr lang="en-US" altLang="en-US"/>
          </a:p>
          <a:p>
            <a:r>
              <a:rPr lang="en-US" altLang="en-US"/>
              <a:t>Evaluate each model using Mean Squared Error (MSE) and Mean Absolute Error (MAE).</a:t>
            </a:r>
            <a:endParaRPr lang="en-US" altLang="en-US"/>
          </a:p>
          <a:p>
            <a:r>
              <a:rPr lang="en-US" altLang="en-US"/>
              <a:t>Model Selection &amp; Deployment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Compare models based on MSE and MAE values.</a:t>
            </a:r>
            <a:endParaRPr lang="en-US" altLang="en-US" b="1"/>
          </a:p>
          <a:p>
            <a:r>
              <a:rPr lang="en-US" altLang="en-US"/>
              <a:t>Select the best-performing model for deployment.</a:t>
            </a:r>
            <a:endParaRPr lang="en-US" altLang="en-US"/>
          </a:p>
          <a:p>
            <a:r>
              <a:rPr lang="en-US" altLang="en-US"/>
              <a:t>Deploy the final model for stock price prediction.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 b="1" u="sng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Architecture diagram of the proposed system</a:t>
            </a:r>
            <a:endParaRPr lang="en-US" sz="3200" u="sng"/>
          </a:p>
        </p:txBody>
      </p:sp>
      <p:pic>
        <p:nvPicPr>
          <p:cNvPr id="4" name="Content Placeholder 3"/>
          <p:cNvPicPr>
            <a:picLocks noChangeAspect="1"/>
          </p:cNvPicPr>
          <p:nvPr>
            <p:ph/>
          </p:nvPr>
        </p:nvPicPr>
        <p:blipFill>
          <a:blip r:embed="rId1"/>
          <a:stretch>
            <a:fillRect/>
          </a:stretch>
        </p:blipFill>
        <p:spPr>
          <a:xfrm>
            <a:off x="3317875" y="1174750"/>
            <a:ext cx="5554345" cy="49523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3600" b="1" u="sng"/>
              <a:t>Module Design and Implementation</a:t>
            </a:r>
            <a:endParaRPr lang="en-IN" altLang="en-US" sz="3600" b="1" u="sng"/>
          </a:p>
        </p:txBody>
      </p:sp>
      <p:pic>
        <p:nvPicPr>
          <p:cNvPr id="4" name="Content Placeholder 3"/>
          <p:cNvPicPr>
            <a:picLocks noChangeAspect="1"/>
          </p:cNvPicPr>
          <p:nvPr>
            <p:ph/>
          </p:nvPr>
        </p:nvPicPr>
        <p:blipFill>
          <a:blip r:embed="rId1"/>
          <a:stretch>
            <a:fillRect/>
          </a:stretch>
        </p:blipFill>
        <p:spPr>
          <a:xfrm>
            <a:off x="1736725" y="1174750"/>
            <a:ext cx="8716645" cy="49523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3600" b="1" u="sng">
                <a:sym typeface="+mn-ea"/>
              </a:rPr>
              <a:t>Module Design and Implementation</a:t>
            </a:r>
            <a:endParaRPr lang="en-US" sz="3600"/>
          </a:p>
        </p:txBody>
      </p:sp>
      <p:pic>
        <p:nvPicPr>
          <p:cNvPr id="4" name="Content Placeholder 3"/>
          <p:cNvPicPr>
            <a:picLocks noChangeAspect="1"/>
          </p:cNvPicPr>
          <p:nvPr>
            <p:ph/>
          </p:nvPr>
        </p:nvPicPr>
        <p:blipFill>
          <a:blip r:embed="rId1"/>
          <a:stretch>
            <a:fillRect/>
          </a:stretch>
        </p:blipFill>
        <p:spPr>
          <a:xfrm>
            <a:off x="2085975" y="1174750"/>
            <a:ext cx="8018145" cy="49523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3600" b="1" u="sng">
                <a:sym typeface="+mn-ea"/>
              </a:rPr>
              <a:t>Module Design and Implementation</a:t>
            </a:r>
            <a:endParaRPr lang="en-US" sz="3600"/>
          </a:p>
        </p:txBody>
      </p:sp>
      <p:pic>
        <p:nvPicPr>
          <p:cNvPr id="4" name="Content Placeholder 3"/>
          <p:cNvPicPr>
            <a:picLocks noChangeAspect="1"/>
          </p:cNvPicPr>
          <p:nvPr>
            <p:ph/>
          </p:nvPr>
        </p:nvPicPr>
        <p:blipFill>
          <a:blip r:embed="rId1"/>
          <a:stretch>
            <a:fillRect/>
          </a:stretch>
        </p:blipFill>
        <p:spPr>
          <a:xfrm>
            <a:off x="1597660" y="1174750"/>
            <a:ext cx="8995410" cy="49523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440" cy="5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3600" b="1" u="sng" strike="noStrike" spc="-1">
                <a:solidFill>
                  <a:schemeClr val="dk1"/>
                </a:solidFill>
                <a:uFillTx/>
                <a:latin typeface="Times New Roman" panose="02020603050405020304"/>
                <a:ea typeface="SimSun" panose="02010600030101010101" pitchFamily="2" charset="-122"/>
              </a:rPr>
              <a:t>References</a:t>
            </a:r>
            <a:endParaRPr lang="en-US" sz="3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13" name="Text Box 112"/>
          <p:cNvSpPr txBox="1"/>
          <p:nvPr/>
        </p:nvSpPr>
        <p:spPr>
          <a:xfrm>
            <a:off x="685800" y="914400"/>
            <a:ext cx="10972800" cy="525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IN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1.</a:t>
            </a:r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J. Eapen, D. Bein and A. Verma, "Novel Deep Learning Model with CNN and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Bi-Directional LSTM for Improved Stock Market Index Prediction," 2019 IEEE 9th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Annual Computing and Communication Workshop and Conference (CCWC), Las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Vegas, NV, USA, 201</a:t>
            </a:r>
            <a:r>
              <a:rPr lang="en-IN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9</a:t>
            </a:r>
            <a:endParaRPr lang="en-IN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2. Qiu J, Wang B, Zhou C (2020) Forecasting stock prices with long-short term memory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neural network based on attention mechanism. PLOS ONE 15(1): e0227222.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3. Karim, Md &amp; Foysal, Md &amp; Das, Sunanda. (2022). Stock Price Prediction Using Bi-LSTM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and GRU-Based Hybrid Deep Learning Approach. 701-711.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4. J. Eapen, D. Bein and A. Verma, "Novel Deep Learning Model with CNN and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Bi-Directional LSTM for Improved Stock Market Index Prediction," 2019 IEEE 9th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Annual Computing and Communication Workshop and Conference (CCWC), Las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r>
              <a:rPr lang="en-US" altLang="en-US" sz="1800" b="0" strike="noStrike" spc="-1">
                <a:solidFill>
                  <a:srgbClr val="000000"/>
                </a:solidFill>
                <a:latin typeface="Arial" panose="020B0604020202020204"/>
              </a:rPr>
              <a:t>Vegas, NV, USA, 2019</a:t>
            </a:r>
            <a:endParaRPr lang="en-US" alt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000" b="1" u="sng" strike="noStrike">
                <a:solidFill>
                  <a:schemeClr val="dk1"/>
                </a:solidFill>
                <a:uFillTx/>
                <a:latin typeface="Times New Roman" panose="02020603050405020304"/>
                <a:ea typeface="SimSun" panose="02010600030101010101" pitchFamily="2" charset="-122"/>
                <a:sym typeface="+mn-ea"/>
              </a:rPr>
              <a:t>References</a:t>
            </a:r>
            <a:endParaRPr lang="en-US" sz="3000" b="1" u="sng" strike="noStrike">
              <a:solidFill>
                <a:schemeClr val="dk1"/>
              </a:solidFill>
              <a:uFillTx/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p>
            <a:r>
              <a:rPr lang="en-IN" altLang="en-US"/>
              <a:t>5.</a:t>
            </a:r>
            <a:r>
              <a:rPr lang="en-US" altLang="en-US"/>
              <a:t> Nan Jing, Zhao Wu, Hefei Wang, A hybrid model integrating deep learning with investor</a:t>
            </a:r>
            <a:endParaRPr lang="en-US" altLang="en-US"/>
          </a:p>
          <a:p>
            <a:r>
              <a:rPr lang="en-US" altLang="en-US"/>
              <a:t>sentiment analysis for stock price prediction, Expert Systems with Applications, Volume 178,</a:t>
            </a:r>
            <a:endParaRPr lang="en-US" altLang="en-US"/>
          </a:p>
          <a:p>
            <a:r>
              <a:rPr lang="en-US" altLang="en-US"/>
              <a:t>2021, 115019, ISSN 0957-4174, 6. A. Singh and S. Jain, "Stock Market Prediction During COVID Using Stacked LSTM," 2022</a:t>
            </a:r>
            <a:endParaRPr lang="en-US" altLang="en-US"/>
          </a:p>
          <a:p>
            <a:endParaRPr lang="en-US" altLang="en-US"/>
          </a:p>
          <a:p>
            <a:r>
              <a:rPr lang="en-IN" altLang="en-US"/>
              <a:t>6.</a:t>
            </a:r>
            <a:r>
              <a:rPr lang="en-US" altLang="en-US"/>
              <a:t>IEEE 9th Uttar Pradesh Section International Conference on Electrical, Electronics and</a:t>
            </a:r>
            <a:endParaRPr lang="en-US" altLang="en-US"/>
          </a:p>
          <a:p>
            <a:r>
              <a:rPr lang="en-US" altLang="en-US"/>
              <a:t>Computer Engineering (UPCON), Prayagraj, India, 2022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7. D. Joiner, A. Vezeau, A. Wong, G. Hains and Y. Khmelevsky, "Algorithmic Trading and</a:t>
            </a:r>
            <a:endParaRPr lang="en-US" altLang="en-US"/>
          </a:p>
          <a:p>
            <a:r>
              <a:rPr lang="en-US" altLang="en-US"/>
              <a:t>Short-term Forecast for Financial Time Series with Machine Learning Models; State of the</a:t>
            </a:r>
            <a:endParaRPr lang="en-US" altLang="en-US"/>
          </a:p>
          <a:p>
            <a:r>
              <a:rPr lang="en-US" altLang="en-US"/>
              <a:t>Art and Perspectives," 2022 IEEE International Conference on Recent Advances in Systems</a:t>
            </a:r>
            <a:endParaRPr lang="en-US" altLang="en-US"/>
          </a:p>
          <a:p>
            <a:r>
              <a:rPr lang="en-US" altLang="en-US"/>
              <a:t>Science and Engineering (RASSE), Tainan, Taiwan, 2022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8. A. R. Nugraha, E. C. Djamal and R. Ilyas, "Stock Prediction of Multivariable Using Bi-Long</a:t>
            </a:r>
            <a:endParaRPr lang="en-US" altLang="en-US"/>
          </a:p>
          <a:p>
            <a:r>
              <a:rPr lang="en-US" altLang="en-US"/>
              <a:t>Short Term Memory and Capsule Neural Network," 2022 9th International Conference on</a:t>
            </a:r>
            <a:endParaRPr lang="en-US" altLang="en-US"/>
          </a:p>
          <a:p>
            <a:r>
              <a:rPr lang="en-US" altLang="en-US"/>
              <a:t>Electrical Engineering, Computer Science and Informatics (EECSI), Jakarta, Indonesia, 2022,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p>
            <a:pPr marL="2743200" lvl="6" indent="457200"/>
            <a:endParaRPr lang="en-IN" altLang="en-US" sz="4200"/>
          </a:p>
          <a:p>
            <a:pPr marL="2743200" lvl="6" indent="457200"/>
            <a:endParaRPr lang="en-IN" altLang="en-US" sz="4200"/>
          </a:p>
          <a:p>
            <a:pPr marL="2743200" lvl="6" indent="457200"/>
            <a:r>
              <a:rPr lang="en-IN" altLang="en-US" sz="4800"/>
              <a:t>THANK YOU!</a:t>
            </a:r>
            <a:endParaRPr lang="en-IN" altLang="en-US"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9104</Words>
  <Application>WPS Presentation</Application>
  <PresentationFormat/>
  <Paragraphs>241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21</vt:i4>
      </vt:variant>
    </vt:vector>
  </HeadingPairs>
  <TitlesOfParts>
    <vt:vector size="45" baseType="lpstr">
      <vt:lpstr>Arial</vt:lpstr>
      <vt:lpstr>SimSun</vt:lpstr>
      <vt:lpstr>Wingdings</vt:lpstr>
      <vt:lpstr>Arial</vt:lpstr>
      <vt:lpstr>Times New Roman</vt:lpstr>
      <vt:lpstr>Symbol</vt:lpstr>
      <vt:lpstr>OpenSymbol</vt:lpstr>
      <vt:lpstr>Segoe Print</vt:lpstr>
      <vt:lpstr>Times New Roman</vt:lpstr>
      <vt:lpstr>Microsoft YaHei</vt:lpstr>
      <vt:lpstr>Arial Unicode MS</vt:lpstr>
      <vt:lpstr>Calibri</vt:lpstr>
      <vt:lpstr>Arial Black</vt:lpstr>
      <vt:lpstr>Orange Waves</vt:lpstr>
      <vt:lpstr>Orange Waves</vt:lpstr>
      <vt:lpstr>Orange Waves</vt:lpstr>
      <vt:lpstr>Orange Waves</vt:lpstr>
      <vt:lpstr>Orange Waves</vt:lpstr>
      <vt:lpstr>Orange Waves</vt:lpstr>
      <vt:lpstr>Orange Waves</vt:lpstr>
      <vt:lpstr>Orange Waves</vt:lpstr>
      <vt:lpstr>Orange Waves</vt:lpstr>
      <vt:lpstr>Orange Waves</vt:lpstr>
      <vt:lpstr>Orange Waves</vt:lpstr>
      <vt:lpstr>Ensemble-Driven Multimodal Analysis for Automated Fake News Detection</vt:lpstr>
      <vt:lpstr>Contents </vt:lpstr>
      <vt:lpstr>Introduction</vt:lpstr>
      <vt:lpstr>Objectives</vt:lpstr>
      <vt:lpstr>What can be classified as Fake news</vt:lpstr>
      <vt:lpstr>Literature Review </vt:lpstr>
      <vt:lpstr>Gaps Identified</vt:lpstr>
      <vt:lpstr>PowerPoint 演示文稿</vt:lpstr>
      <vt:lpstr>Future work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Architecture diagram of the proposed system</vt:lpstr>
      <vt:lpstr>PowerPoint 演示文稿</vt:lpstr>
      <vt:lpstr>PowerPoint 演示文稿</vt:lpstr>
      <vt:lpstr>PowerPoint 演示文稿</vt:lpstr>
      <vt:lpstr>References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Ensemble-Driven Multimodal Analysis for Automated Fake News Detection</dc:title>
  <dc:creator/>
  <cp:lastModifiedBy>Atishay Jain</cp:lastModifiedBy>
  <cp:revision>15</cp:revision>
  <dcterms:created xsi:type="dcterms:W3CDTF">2024-09-22T14:18:00Z</dcterms:created>
  <dcterms:modified xsi:type="dcterms:W3CDTF">2025-02-16T19:08:40Z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5D1696ED5C7448009AE8DBC68FB61EBC_12</vt:lpwstr>
  </property>
  <property fmtid="{D5CDD505-2E9C-101B-9397-08002B2CF9AE}" pid="3" name="KSOProductBuildVer">
    <vt:lpwstr>1033-12.2.0.19805</vt:lpwstr>
  </property>
  <property fmtid="{D5CDD505-2E9C-101B-9397-08002B2CF9AE}" pid="4" name="PresentationFormat">
    <vt:lpwstr>Widescreen</vt:lpwstr>
  </property>
  <property fmtid="{D5CDD505-2E9C-101B-9397-08002B2CF9AE}" pid="5" name="Slides">
    <vt:i4>10</vt:i4>
  </property>
</Properties>
</file>